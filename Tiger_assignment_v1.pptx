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147376947" r:id="rId3"/>
    <p:sldId id="2147477179" r:id="rId4"/>
    <p:sldId id="2147477387" r:id="rId5"/>
    <p:sldId id="2147477399" r:id="rId6"/>
    <p:sldId id="2147477401" r:id="rId7"/>
    <p:sldId id="2147477400" r:id="rId8"/>
    <p:sldId id="2147477402" r:id="rId9"/>
    <p:sldId id="2147477392" r:id="rId10"/>
    <p:sldId id="2147477393" r:id="rId11"/>
    <p:sldId id="2147477398" r:id="rId12"/>
    <p:sldId id="2147477403" r:id="rId13"/>
    <p:sldId id="2147477394" r:id="rId14"/>
    <p:sldId id="2147477395" r:id="rId15"/>
    <p:sldId id="2147477397" r:id="rId16"/>
    <p:sldId id="214747739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E6F5"/>
    <a:srgbClr val="FF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72078-FE13-465B-8394-171BF2ADEF75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7977C-47E9-44EF-A5B3-C0701FA0E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004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07BBB-8B09-8AA2-00AA-2509C202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AEFAB8-34A0-17EE-2FCF-E8A75E0C5F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D833F-D34C-B0DF-E7FD-747FB7BF8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6EC3D-6798-2651-25AE-887E9DBB0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9F16C-3202-BD88-42E5-734658534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477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0062A-A43F-FB1C-36FA-16A67608D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DF23D-CF49-F041-A885-9EDA8A2B4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CDB22-9381-FDD4-DACC-4CA0C72C4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62123-67AB-90A8-6819-382324073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69720-E57C-2030-492D-9C8897B7E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86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C9048-F838-15EE-DCBA-ED8C0876C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7BB3D-AB24-23FA-6B2B-A0C13924A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5430E-429A-9168-1C10-964E8E07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0A8EF-18C0-A049-50B4-7D53D7963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05675-63C8-5635-6E69-14883CAD7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91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4486F-8472-E0A8-5117-3F020BA6F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445F5-0D46-CCD4-7F77-5C0CA3ECBD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2472C-A569-BD9F-E171-9255FC1523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1DE00-EAE9-45BF-92B7-811DC5E67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CE3C15-DF66-9357-E6A7-D95FA1C7F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469D3-38D1-0DC3-5679-BA1988135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884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4D33-3979-32E7-79EC-3CB83A250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E654F-50DE-BD21-6252-DBF12E2FC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27E20-7296-2958-D37A-C5256B081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969641-08EB-5C90-B1FC-CE89D9FF2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56CC0C-4784-6766-2B44-6CAEF35C4A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C4C660-44A2-F828-077E-61F40286C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A4F6A6-298E-754C-0915-E6EF28F6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934097-3938-36B1-431A-A4843FA2C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010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43D0F-CD23-9342-F234-2453A6708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2EFC2-A281-7980-A169-959CF1429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75834-1E76-F0B0-2492-C73885C05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4DDD7-5D2A-B73C-4CC6-899797847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800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A23E52-3147-A1B9-DDAA-907F184DD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9929D-1E7E-AA42-27FB-2122883F2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3E8D9-F466-AF11-3E01-C20C830F6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04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48B68-B460-CC68-4AE4-35CFF32A3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6FAAA-B9F8-B5E8-6E7E-822E24F08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ED1D5-DA86-67F8-70D5-6CC26D73F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1C389-5728-967C-AF43-105927E70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BABFD-25E5-1DB2-7199-B4BCEB251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F5C4A-83F7-7F23-CD56-EE48C79DD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298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111DB-1C6B-95BE-C02E-872A3A878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862B4-D712-EFC3-5CFF-976BF0C3A2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35567-F3DE-8DC1-395C-6DA386136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AEC2E-C043-6755-E7FD-E08F6259A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9DD97-E4D3-3F30-7E22-936201AA3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F6D61-20F0-F0D9-714F-10D8601BE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777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DDBB1-BF3C-AA12-33F4-E8EC5606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C3ED7-1133-8D64-FE67-18BE732188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A8A27-0571-4C72-1E11-0256A091D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556B4-219A-2C89-2A30-BC93461F3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751B9-471D-4B78-D377-267E712FC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280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AFB591-53D5-84C2-8FD0-E8092C57C4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1A5FF-E40C-3ACC-FA10-8DDE9A0874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F0178-C6B0-1C7F-845B-4DFE55FD2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AA9B6-6FCE-2EA1-B4D0-1DDAD7E03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D8197-A7DA-02AB-53AE-9BF1B4F63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564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31694AA4-10C4-47D8-9EC1-9A42EDF38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660870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Confidential - Decision Point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C5D6D4AC-FDEB-45F8-92D7-50B9D5079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25608" y="6660870"/>
            <a:ext cx="357846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0A39E1-FABC-4960-AC5F-AC8090D888BB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6C6EF4-B7B0-E7C6-B04A-D4057F0BC42B}"/>
              </a:ext>
            </a:extLst>
          </p:cNvPr>
          <p:cNvSpPr/>
          <p:nvPr userDrawn="1"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2D2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1F28F6-0AA3-D462-B1C5-5220BC2BA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12" y="138196"/>
            <a:ext cx="11865888" cy="54656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2200" b="1">
                <a:solidFill>
                  <a:schemeClr val="bg1"/>
                </a:solidFill>
                <a:latin typeface="Arial Nova" panose="020B050402020202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88F54D-194F-DF32-84B5-0147191918DA}"/>
              </a:ext>
            </a:extLst>
          </p:cNvPr>
          <p:cNvSpPr/>
          <p:nvPr userDrawn="1"/>
        </p:nvSpPr>
        <p:spPr>
          <a:xfrm>
            <a:off x="-1" y="138196"/>
            <a:ext cx="96407" cy="5465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0096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D88B9C-C706-485E-3705-2AB6B81EC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4928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24812DF3-5728-4251-B936-F527A98CD17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999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E1D457-B27A-E7B2-54FA-0C3CE5FE8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A23A1-3264-8C0F-2F6A-EE6DAE337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6162D-5BE7-DE31-3FCF-8F29B5552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34257-1F71-4F7C-A64A-A9580D98664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01F84-B976-B29A-EB1B-B63B03262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C05EA-B68C-F9D0-B77D-504A9C742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A33F8C-C1FF-92B9-A641-C8D08C230E8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985838" cy="2286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500">
                <a:solidFill>
                  <a:srgbClr val="E9A2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242521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506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81954" y="6681072"/>
            <a:ext cx="1218565" cy="124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5"/>
              </a:lnSpc>
            </a:pPr>
            <a:r>
              <a:rPr sz="950" dirty="0">
                <a:latin typeface="Calibri"/>
                <a:cs typeface="Calibri"/>
              </a:rPr>
              <a:t>Classified</a:t>
            </a:r>
            <a:r>
              <a:rPr sz="950" spc="10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-</a:t>
            </a:r>
            <a:r>
              <a:rPr sz="950" spc="75" dirty="0">
                <a:latin typeface="Calibri"/>
                <a:cs typeface="Calibri"/>
              </a:rPr>
              <a:t> </a:t>
            </a:r>
            <a:r>
              <a:rPr sz="950" spc="-10" dirty="0">
                <a:latin typeface="Calibri"/>
                <a:cs typeface="Calibri"/>
              </a:rPr>
              <a:t>Confidential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29082" y="-14368"/>
            <a:ext cx="12192000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82474" cy="679132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095623"/>
              <a:ext cx="12191999" cy="3762374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788227" y="2027310"/>
            <a:ext cx="5617029" cy="21078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5705"/>
              </a:lnSpc>
            </a:pPr>
            <a:r>
              <a:rPr lang="en-IN" sz="5400" spc="-65" dirty="0">
                <a:solidFill>
                  <a:srgbClr val="FFFFFF"/>
                </a:solidFill>
                <a:latin typeface="Arial Nova" panose="020B0504020202020204" pitchFamily="34" charset="0"/>
              </a:rPr>
              <a:t>AA</a:t>
            </a:r>
            <a:br>
              <a:rPr lang="en-IN" sz="5000" spc="-65" dirty="0">
                <a:solidFill>
                  <a:srgbClr val="FFFFFF"/>
                </a:solidFill>
                <a:latin typeface="Arial Nova" panose="020B0504020202020204" pitchFamily="34" charset="0"/>
              </a:rPr>
            </a:br>
            <a:r>
              <a:rPr lang="en-IN" sz="2800" spc="-65" dirty="0">
                <a:solidFill>
                  <a:srgbClr val="FFFFFF"/>
                </a:solidFill>
                <a:latin typeface="Arial Nova" panose="020B0504020202020204" pitchFamily="34" charset="0"/>
              </a:rPr>
              <a:t>Smart Discounting Strategy for Clutches sales in USA market</a:t>
            </a:r>
            <a:endParaRPr lang="en-IN" sz="2800" dirty="0">
              <a:latin typeface="Arial Nova" panose="020B050402020202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47257" y="3455072"/>
            <a:ext cx="7598229" cy="416140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45"/>
              </a:spcBef>
            </a:pPr>
            <a:endParaRPr sz="2000" dirty="0">
              <a:solidFill>
                <a:schemeClr val="bg1"/>
              </a:solidFill>
              <a:latin typeface="Arial Nova" panose="020B0504020202020204" pitchFamily="34" charset="0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E74B7C-3CB7-1F1F-0586-3702A1144640}"/>
              </a:ext>
            </a:extLst>
          </p:cNvPr>
          <p:cNvSpPr txBox="1"/>
          <p:nvPr/>
        </p:nvSpPr>
        <p:spPr>
          <a:xfrm>
            <a:off x="38608" y="5627914"/>
            <a:ext cx="43483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Presenter: </a:t>
            </a:r>
            <a:r>
              <a:rPr lang="en-IN" b="1" dirty="0"/>
              <a:t>Govind Kishore, Consultant</a:t>
            </a:r>
          </a:p>
          <a:p>
            <a:endParaRPr lang="en-IN" dirty="0"/>
          </a:p>
          <a:p>
            <a:pPr algn="ctr"/>
            <a:r>
              <a:rPr lang="en-IN" dirty="0"/>
              <a:t>TIGER Analytics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30A73-A5B9-B08E-210F-1C6740DFA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67755284-2E6A-6BDC-4C1D-74086BB5D9F7}"/>
              </a:ext>
            </a:extLst>
          </p:cNvPr>
          <p:cNvSpPr/>
          <p:nvPr/>
        </p:nvSpPr>
        <p:spPr>
          <a:xfrm>
            <a:off x="-34291" y="-34292"/>
            <a:ext cx="12252960" cy="902971"/>
          </a:xfrm>
          <a:custGeom>
            <a:avLst/>
            <a:gdLst/>
            <a:ahLst/>
            <a:cxnLst/>
            <a:rect l="l" t="t" r="r" b="b"/>
            <a:pathLst>
              <a:path w="12192000" h="1160145">
                <a:moveTo>
                  <a:pt x="12192000" y="0"/>
                </a:moveTo>
                <a:lnTo>
                  <a:pt x="0" y="0"/>
                </a:lnTo>
                <a:lnTo>
                  <a:pt x="0" y="1159535"/>
                </a:lnTo>
                <a:lnTo>
                  <a:pt x="12192000" y="1159535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 anchor="ctr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dirty="0" err="1">
                <a:solidFill>
                  <a:prstClr val="white"/>
                </a:solidFill>
                <a:latin typeface="Rockwell" panose="02060603020205020403" pitchFamily="18" charset="0"/>
              </a:rPr>
              <a:t>Exceutive</a:t>
            </a:r>
            <a:r>
              <a:rPr lang="en-IN" sz="2400" b="1" dirty="0">
                <a:solidFill>
                  <a:prstClr val="white"/>
                </a:solidFill>
                <a:latin typeface="Rockwell" panose="02060603020205020403" pitchFamily="18" charset="0"/>
              </a:rPr>
              <a:t> Summary- Key Questions &amp; Our Proposal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80D2B5-6D4B-7507-930D-D5D698B32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45492"/>
              </p:ext>
            </p:extLst>
          </p:nvPr>
        </p:nvGraphicFramePr>
        <p:xfrm>
          <a:off x="421979" y="1413243"/>
          <a:ext cx="11348041" cy="4606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235">
                  <a:extLst>
                    <a:ext uri="{9D8B030D-6E8A-4147-A177-3AD203B41FA5}">
                      <a16:colId xmlns:a16="http://schemas.microsoft.com/office/drawing/2014/main" val="3271557534"/>
                    </a:ext>
                  </a:extLst>
                </a:gridCol>
                <a:gridCol w="8303806">
                  <a:extLst>
                    <a:ext uri="{9D8B030D-6E8A-4147-A177-3AD203B41FA5}">
                      <a16:colId xmlns:a16="http://schemas.microsoft.com/office/drawing/2014/main" val="284669737"/>
                    </a:ext>
                  </a:extLst>
                </a:gridCol>
              </a:tblGrid>
              <a:tr h="1018414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What is the Problem?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 AA Auto parts retailers, </a:t>
                      </a:r>
                      <a:r>
                        <a:rPr lang="en-GB" sz="16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transactions are price negotiated between the customer &amp; the store associate. Therefore, selling price vs base / recommended price being different due to unscrupulous discounting which results into serious impact on the margins.</a:t>
                      </a:r>
                      <a:endParaRPr lang="en-IN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696265"/>
                  </a:ext>
                </a:extLst>
              </a:tr>
              <a:tr h="1136937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Who has this Problem?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Sales Professionals, Director of Analytics, Director of Pricing, CEO, CFO, Customers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853513"/>
                  </a:ext>
                </a:extLst>
              </a:tr>
              <a:tr h="1264863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Why should this Problem be solved?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 design an analytics driven discounting strategy which will lead to smart pricing that results in a win-win for both customers &amp; AA such that the sales revenues are not impacted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564737"/>
                  </a:ext>
                </a:extLst>
              </a:tr>
              <a:tr h="1186343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Our Solutions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Analytics Driven Discounting Strategy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Safe Discount Margin Strategy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What-If Simulator Tool to help salespersons make rational decisions and inflict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behavioural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change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85639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9DB57-F9C8-A028-6630-AE75A7598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812DF3-5728-4251-B936-F527A98CD1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5855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2FC172-7EE8-DCBB-C2B3-DC245B9C6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180" y="138196"/>
            <a:ext cx="11708219" cy="546568"/>
          </a:xfrm>
        </p:spPr>
        <p:txBody>
          <a:bodyPr/>
          <a:lstStyle/>
          <a:p>
            <a:r>
              <a:rPr lang="en-IN" sz="2400" dirty="0">
                <a:latin typeface="Rockwell" panose="02060603020205020403" pitchFamily="18" charset="0"/>
              </a:rPr>
              <a:t>Project Plan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2D7657-29EB-A69A-D058-B3800BBF8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981724"/>
              </p:ext>
            </p:extLst>
          </p:nvPr>
        </p:nvGraphicFramePr>
        <p:xfrm>
          <a:off x="1088571" y="1491342"/>
          <a:ext cx="10287001" cy="4365175"/>
        </p:xfrm>
        <a:graphic>
          <a:graphicData uri="http://schemas.openxmlformats.org/drawingml/2006/table">
            <a:tbl>
              <a:tblPr/>
              <a:tblGrid>
                <a:gridCol w="3648205">
                  <a:extLst>
                    <a:ext uri="{9D8B030D-6E8A-4147-A177-3AD203B41FA5}">
                      <a16:colId xmlns:a16="http://schemas.microsoft.com/office/drawing/2014/main" val="2116531614"/>
                    </a:ext>
                  </a:extLst>
                </a:gridCol>
                <a:gridCol w="986425">
                  <a:extLst>
                    <a:ext uri="{9D8B030D-6E8A-4147-A177-3AD203B41FA5}">
                      <a16:colId xmlns:a16="http://schemas.microsoft.com/office/drawing/2014/main" val="2961217501"/>
                    </a:ext>
                  </a:extLst>
                </a:gridCol>
                <a:gridCol w="986425">
                  <a:extLst>
                    <a:ext uri="{9D8B030D-6E8A-4147-A177-3AD203B41FA5}">
                      <a16:colId xmlns:a16="http://schemas.microsoft.com/office/drawing/2014/main" val="1058679186"/>
                    </a:ext>
                  </a:extLst>
                </a:gridCol>
                <a:gridCol w="986425">
                  <a:extLst>
                    <a:ext uri="{9D8B030D-6E8A-4147-A177-3AD203B41FA5}">
                      <a16:colId xmlns:a16="http://schemas.microsoft.com/office/drawing/2014/main" val="1169951227"/>
                    </a:ext>
                  </a:extLst>
                </a:gridCol>
                <a:gridCol w="970767">
                  <a:extLst>
                    <a:ext uri="{9D8B030D-6E8A-4147-A177-3AD203B41FA5}">
                      <a16:colId xmlns:a16="http://schemas.microsoft.com/office/drawing/2014/main" val="1722891126"/>
                    </a:ext>
                  </a:extLst>
                </a:gridCol>
                <a:gridCol w="986425">
                  <a:extLst>
                    <a:ext uri="{9D8B030D-6E8A-4147-A177-3AD203B41FA5}">
                      <a16:colId xmlns:a16="http://schemas.microsoft.com/office/drawing/2014/main" val="3176458695"/>
                    </a:ext>
                  </a:extLst>
                </a:gridCol>
                <a:gridCol w="970767">
                  <a:extLst>
                    <a:ext uri="{9D8B030D-6E8A-4147-A177-3AD203B41FA5}">
                      <a16:colId xmlns:a16="http://schemas.microsoft.com/office/drawing/2014/main" val="215962851"/>
                    </a:ext>
                  </a:extLst>
                </a:gridCol>
                <a:gridCol w="751562">
                  <a:extLst>
                    <a:ext uri="{9D8B030D-6E8A-4147-A177-3AD203B41FA5}">
                      <a16:colId xmlns:a16="http://schemas.microsoft.com/office/drawing/2014/main" val="7953759"/>
                    </a:ext>
                  </a:extLst>
                </a:gridCol>
              </a:tblGrid>
              <a:tr h="25677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Project: Data Driven Discount Strategy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10th Nov, '25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14th Nov, '25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17th Nov, '25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21st Nov, '25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17th Nov, '25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21st Nov, '25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147267"/>
                  </a:ext>
                </a:extLst>
              </a:tr>
              <a:tr h="25677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Week 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Week 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Week 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45568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 Cleaning &amp; Data Manipulation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295158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Company Overview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690997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Exploratory Data Analysis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764318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Discount &amp; Margin Distribution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490988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Price Cluster Wise Summary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978970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Customer Analysis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829091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Sales Team Analysis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627724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Regression Modelling between Discount &amp; Quantity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356186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Time Series Based Analysis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262994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Safe Discount Margin Identification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318914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Streamlit Web App for What-if Analysis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309297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Final Recommendations Summary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695399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431838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Sprint 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Sprint 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4EA72E"/>
                          </a:solidFill>
                          <a:effectLst/>
                          <a:latin typeface="Aptos Narrow" panose="020B0004020202020204" pitchFamily="34" charset="0"/>
                        </a:rPr>
                        <a:t>Final Presentation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458118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737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5798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3AEBB06-3E2D-46D1-B99A-8F13067A0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F7E7171-EB64-F6EC-0ABC-612035C45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Rockwell" panose="02060603020205020403" pitchFamily="18" charset="0"/>
              </a:rPr>
              <a:t>Data Profiling: Issues due to Missing Values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F52CBF-B983-399C-6C96-6BAD107E4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087" y="1289957"/>
            <a:ext cx="5457825" cy="190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B1D51C-05E7-7376-D619-697053EB419E}"/>
              </a:ext>
            </a:extLst>
          </p:cNvPr>
          <p:cNvSpPr txBox="1"/>
          <p:nvPr/>
        </p:nvSpPr>
        <p:spPr>
          <a:xfrm>
            <a:off x="914400" y="3200400"/>
            <a:ext cx="10863943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1. </a:t>
            </a:r>
            <a:r>
              <a:rPr lang="en-GB" sz="1400" b="1" dirty="0" err="1"/>
              <a:t>Customer_LSTYR_Sales</a:t>
            </a:r>
            <a:r>
              <a:rPr lang="en-GB" sz="1400" b="1" dirty="0"/>
              <a:t> (55.4% missing):</a:t>
            </a:r>
          </a:p>
          <a:p>
            <a:r>
              <a:rPr lang="en-GB" sz="1400" dirty="0"/>
              <a:t>- </a:t>
            </a:r>
            <a:r>
              <a:rPr lang="en-GB" sz="1400" i="1" dirty="0"/>
              <a:t>Business Interpretation</a:t>
            </a:r>
            <a:r>
              <a:rPr lang="en-GB" sz="1400" dirty="0"/>
              <a:t>: Sale from Previous year - missing which means these customers are new customers.</a:t>
            </a:r>
          </a:p>
          <a:p>
            <a:r>
              <a:rPr lang="en-GB" sz="1400" dirty="0"/>
              <a:t>- </a:t>
            </a:r>
            <a:r>
              <a:rPr lang="en-GB" sz="1400" i="1" dirty="0"/>
              <a:t>Treatment? </a:t>
            </a:r>
            <a:r>
              <a:rPr lang="en-GB" sz="1400" dirty="0"/>
              <a:t>replacing the null values with 0 (since these are new customers, last year sales are 0)</a:t>
            </a:r>
          </a:p>
          <a:p>
            <a:endParaRPr lang="en-GB" sz="1400" dirty="0"/>
          </a:p>
          <a:p>
            <a:r>
              <a:rPr lang="en-GB" sz="1400" b="1" dirty="0"/>
              <a:t>2. </a:t>
            </a:r>
            <a:r>
              <a:rPr lang="en-GB" sz="1400" b="1" dirty="0" err="1"/>
              <a:t>Customer_Salesman</a:t>
            </a:r>
            <a:r>
              <a:rPr lang="en-GB" sz="1400" b="1" dirty="0"/>
              <a:t> (55.4% missing):</a:t>
            </a:r>
          </a:p>
          <a:p>
            <a:r>
              <a:rPr lang="en-GB" sz="1400" dirty="0"/>
              <a:t>- </a:t>
            </a:r>
            <a:r>
              <a:rPr lang="en-GB" sz="1400" i="1" dirty="0"/>
              <a:t>Business Interpretation: </a:t>
            </a:r>
            <a:r>
              <a:rPr lang="en-GB" sz="1400" dirty="0"/>
              <a:t>Salesperson assigned to customer. Missing means new customers or </a:t>
            </a:r>
            <a:r>
              <a:rPr lang="en-GB" sz="1400" dirty="0" err="1"/>
              <a:t>unassgined</a:t>
            </a:r>
            <a:r>
              <a:rPr lang="en-GB" sz="1400" dirty="0"/>
              <a:t> accounts</a:t>
            </a:r>
          </a:p>
          <a:p>
            <a:r>
              <a:rPr lang="en-GB" sz="1400" dirty="0"/>
              <a:t>- </a:t>
            </a:r>
            <a:r>
              <a:rPr lang="en-GB" sz="1400" i="1" dirty="0"/>
              <a:t>Treatment? </a:t>
            </a:r>
            <a:r>
              <a:rPr lang="en-GB" sz="1400" dirty="0"/>
              <a:t>replacing the null values with 'Unassigned'</a:t>
            </a:r>
          </a:p>
          <a:p>
            <a:endParaRPr lang="en-GB" sz="1400" dirty="0"/>
          </a:p>
          <a:p>
            <a:r>
              <a:rPr lang="en-GB" sz="1400" b="1" dirty="0"/>
              <a:t>3. </a:t>
            </a:r>
            <a:r>
              <a:rPr lang="en-GB" sz="1400" b="1" dirty="0" err="1"/>
              <a:t>Territory_Names</a:t>
            </a:r>
            <a:r>
              <a:rPr lang="en-GB" sz="1400" b="1" dirty="0"/>
              <a:t> (0.45% missing):</a:t>
            </a:r>
          </a:p>
          <a:p>
            <a:r>
              <a:rPr lang="en-GB" sz="1400" dirty="0"/>
              <a:t>- </a:t>
            </a:r>
            <a:r>
              <a:rPr lang="en-GB" sz="1400" i="1" dirty="0"/>
              <a:t>Business Interpretation: </a:t>
            </a:r>
            <a:r>
              <a:rPr lang="en-GB" sz="1400" dirty="0"/>
              <a:t>Very small number, it doesn't affect the overall analysis.</a:t>
            </a:r>
          </a:p>
          <a:p>
            <a:r>
              <a:rPr lang="en-GB" sz="1400" dirty="0"/>
              <a:t>- </a:t>
            </a:r>
            <a:r>
              <a:rPr lang="en-GB" sz="1400" i="1" dirty="0"/>
              <a:t>Treatment? </a:t>
            </a:r>
            <a:r>
              <a:rPr lang="en-GB" sz="1400" dirty="0"/>
              <a:t>replace the null values with 'Unknown Territory'</a:t>
            </a:r>
          </a:p>
          <a:p>
            <a:endParaRPr lang="en-GB" sz="1400" dirty="0"/>
          </a:p>
          <a:p>
            <a:r>
              <a:rPr lang="en-GB" sz="1400" b="1" dirty="0"/>
              <a:t>4. </a:t>
            </a:r>
            <a:r>
              <a:rPr lang="en-GB" sz="1400" b="1" dirty="0" err="1"/>
              <a:t>Territory_Salesperson</a:t>
            </a:r>
            <a:r>
              <a:rPr lang="en-GB" sz="1400" b="1" dirty="0"/>
              <a:t> (0.04% missing):</a:t>
            </a:r>
          </a:p>
          <a:p>
            <a:r>
              <a:rPr lang="en-GB" sz="1400" dirty="0"/>
              <a:t>- </a:t>
            </a:r>
            <a:r>
              <a:rPr lang="en-GB" sz="1400" i="1" dirty="0"/>
              <a:t>Business Interpretation</a:t>
            </a:r>
            <a:r>
              <a:rPr lang="en-GB" sz="1400" dirty="0"/>
              <a:t>: very </a:t>
            </a:r>
            <a:r>
              <a:rPr lang="en-GB" sz="1400" dirty="0" err="1"/>
              <a:t>very</a:t>
            </a:r>
            <a:r>
              <a:rPr lang="en-GB" sz="1400" dirty="0"/>
              <a:t> small values, insignificant</a:t>
            </a:r>
          </a:p>
          <a:p>
            <a:r>
              <a:rPr lang="en-GB" sz="1400" dirty="0"/>
              <a:t>- </a:t>
            </a:r>
            <a:r>
              <a:rPr lang="en-GB" sz="1400" i="1" dirty="0"/>
              <a:t>Treatment? </a:t>
            </a:r>
            <a:r>
              <a:rPr lang="en-GB" sz="1400" dirty="0"/>
              <a:t>replace null values with ''</a:t>
            </a:r>
            <a:r>
              <a:rPr lang="en-GB" sz="1400" dirty="0" err="1"/>
              <a:t>Unknown_TS</a:t>
            </a:r>
            <a:r>
              <a:rPr lang="en-GB" sz="1400" dirty="0"/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1072708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4069A-EE71-4255-82DA-50E657726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4E6019-8C6B-3652-9A4E-B25F2097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Rockwell" panose="02060603020205020403" pitchFamily="18" charset="0"/>
              </a:rPr>
              <a:t>Current discounting strategy: Higher discounts directly erode gross margins- Clear need for guardrails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5807AC-5C5C-3559-89A5-D19081703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71" y="974234"/>
            <a:ext cx="6392636" cy="18941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7AE07B-5874-677D-1507-DA3509242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12" y="3069771"/>
            <a:ext cx="8393345" cy="35269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5D46CA-0818-C182-4772-22B64988C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6868" y="3157819"/>
            <a:ext cx="3697620" cy="33508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C91A7D-2AFC-A3F2-8A24-87D46B4F580A}"/>
              </a:ext>
            </a:extLst>
          </p:cNvPr>
          <p:cNvSpPr txBox="1"/>
          <p:nvPr/>
        </p:nvSpPr>
        <p:spPr>
          <a:xfrm>
            <a:off x="6643007" y="997961"/>
            <a:ext cx="53203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b="1" dirty="0"/>
              <a:t>Negative Correlations (R = -0.7) between Discount % and Gross Margin %</a:t>
            </a:r>
          </a:p>
          <a:p>
            <a:pPr marL="342900" indent="-342900">
              <a:buAutoNum type="arabicPeriod"/>
            </a:pPr>
            <a:r>
              <a:rPr lang="en-GB" b="1" dirty="0"/>
              <a:t>Margins fall sharply beyond the 10-15% discount band</a:t>
            </a:r>
          </a:p>
          <a:p>
            <a:pPr marL="342900" indent="-342900">
              <a:buAutoNum type="arabicPeriod"/>
            </a:pPr>
            <a:r>
              <a:rPr lang="en-GB" b="1" dirty="0"/>
              <a:t>Indicates absence of pricing discipline across regions and reps</a:t>
            </a:r>
          </a:p>
          <a:p>
            <a:pPr marL="342900" indent="-342900">
              <a:buAutoNum type="arabicPeriod"/>
            </a:pPr>
            <a:r>
              <a:rPr lang="en-GB" b="1" dirty="0"/>
              <a:t>Sets the foundation for “Safe Discount Zones”</a:t>
            </a:r>
          </a:p>
        </p:txBody>
      </p:sp>
    </p:spTree>
    <p:extLst>
      <p:ext uri="{BB962C8B-B14F-4D97-AF65-F5344CB8AC3E}">
        <p14:creationId xmlns:p14="http://schemas.microsoft.com/office/powerpoint/2010/main" val="2106344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4766A-0F4C-D7B5-D0DE-1D90A30BB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65C604-5B7A-C8C5-D2BD-F12E2B834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Rockwell" panose="02060603020205020403" pitchFamily="18" charset="0"/>
              </a:rPr>
              <a:t>Relationship between past Sales and Discount: Need to balance profitability &amp; customer acquisition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6B5064-100D-913E-A9C1-508805997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4771"/>
            <a:ext cx="7565571" cy="43651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53DC8B-B9FA-3482-09AB-A177339ECFDD}"/>
              </a:ext>
            </a:extLst>
          </p:cNvPr>
          <p:cNvSpPr txBox="1"/>
          <p:nvPr/>
        </p:nvSpPr>
        <p:spPr>
          <a:xfrm>
            <a:off x="6902988" y="2663432"/>
            <a:ext cx="4950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New customers (0 prior sales) often receive steeper discounts — thus we need to check acquisition vs profitability balance.</a:t>
            </a:r>
          </a:p>
        </p:txBody>
      </p:sp>
    </p:spTree>
    <p:extLst>
      <p:ext uri="{BB962C8B-B14F-4D97-AF65-F5344CB8AC3E}">
        <p14:creationId xmlns:p14="http://schemas.microsoft.com/office/powerpoint/2010/main" val="868757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BEFEE-E5C1-1FCA-654E-B39CA07E7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833C8F-F7B8-D0D6-EA7E-AC878216A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Rockwell" panose="02060603020205020403" pitchFamily="18" charset="0"/>
              </a:rPr>
              <a:t>Average Gross Margin % by Price Cluster &amp; Regions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B5E716-67FD-A9B3-47F7-E6DB954E8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07" y="1045028"/>
            <a:ext cx="6183764" cy="4550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B67CF3-583E-8E4E-7D65-37F68281472C}"/>
              </a:ext>
            </a:extLst>
          </p:cNvPr>
          <p:cNvSpPr txBox="1"/>
          <p:nvPr/>
        </p:nvSpPr>
        <p:spPr>
          <a:xfrm>
            <a:off x="413657" y="5722848"/>
            <a:ext cx="5878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Price Cluster differ sharply in average margin - potential lever for pricing optimization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552DD-9914-D513-CDCD-2C2CF04C9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943" y="1045028"/>
            <a:ext cx="5802086" cy="47679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B0E383-8AA3-1AB8-3B04-88482078B939}"/>
              </a:ext>
            </a:extLst>
          </p:cNvPr>
          <p:cNvSpPr txBox="1"/>
          <p:nvPr/>
        </p:nvSpPr>
        <p:spPr>
          <a:xfrm>
            <a:off x="6552521" y="5722847"/>
            <a:ext cx="5421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Some regions (like WEST or CENTRAL) may show margin variations — candidate for regional pricing</a:t>
            </a:r>
          </a:p>
        </p:txBody>
      </p:sp>
    </p:spTree>
    <p:extLst>
      <p:ext uri="{BB962C8B-B14F-4D97-AF65-F5344CB8AC3E}">
        <p14:creationId xmlns:p14="http://schemas.microsoft.com/office/powerpoint/2010/main" val="640399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B9C16-E9A8-E704-BC2A-A1ADB7434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DF36CE-4054-F7B0-ADD1-9AD849CB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Rockwell" panose="02060603020205020403" pitchFamily="18" charset="0"/>
              </a:rPr>
              <a:t>Customer Segmentation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2E3658-862A-1688-BDD6-E832A95EF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1144360"/>
            <a:ext cx="8572500" cy="21213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23CE14-0139-DB0E-E0D9-10178E9418CF}"/>
              </a:ext>
            </a:extLst>
          </p:cNvPr>
          <p:cNvSpPr txBox="1"/>
          <p:nvPr/>
        </p:nvSpPr>
        <p:spPr>
          <a:xfrm>
            <a:off x="1088571" y="3777343"/>
            <a:ext cx="975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Small customer segment (contributing less than 33% to the total revenue) receive high discounts, leading to margin leak (meagre ~9%)</a:t>
            </a:r>
          </a:p>
          <a:p>
            <a:endParaRPr lang="en-IN" dirty="0"/>
          </a:p>
          <a:p>
            <a:r>
              <a:rPr lang="en-IN" b="1" dirty="0"/>
              <a:t>Actionable recommendation</a:t>
            </a:r>
            <a:r>
              <a:rPr lang="en-IN" dirty="0"/>
              <a:t>: Introduce segment-based rules with approval tiers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9269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450E6-33DC-2ABA-0B15-46209FA70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3B1212-F972-7E6C-9BAC-917DEE076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Rockwell" panose="02060603020205020403" pitchFamily="18" charset="0"/>
              </a:rPr>
              <a:t>Proposed Solution: Safe Discount Margin Identification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A9DA00-3837-16DB-50FF-032F27A86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4" y="1014412"/>
            <a:ext cx="10597243" cy="51339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8DCFFA-784B-707C-1584-0921A7A62345}"/>
              </a:ext>
            </a:extLst>
          </p:cNvPr>
          <p:cNvSpPr txBox="1"/>
          <p:nvPr/>
        </p:nvSpPr>
        <p:spPr>
          <a:xfrm>
            <a:off x="2539092" y="6211669"/>
            <a:ext cx="76281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Actionable Next Step: Incorporate Three Tier Discount Policy:</a:t>
            </a:r>
          </a:p>
          <a:p>
            <a:pPr algn="ctr"/>
            <a:r>
              <a:rPr lang="en-GB" b="1" dirty="0"/>
              <a:t>Green / Amber / Red</a:t>
            </a:r>
          </a:p>
        </p:txBody>
      </p:sp>
    </p:spTree>
    <p:extLst>
      <p:ext uri="{BB962C8B-B14F-4D97-AF65-F5344CB8AC3E}">
        <p14:creationId xmlns:p14="http://schemas.microsoft.com/office/powerpoint/2010/main" val="324746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D5750-25B7-B511-1EB0-25B02670F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D153D8-11CC-EA38-A951-29E043189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Rockwell" panose="02060603020205020403" pitchFamily="18" charset="0"/>
              </a:rPr>
              <a:t>Proposed Solution: Safe Discount Margin Identification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EF4551-A52E-163C-AC08-4DF41217F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49086"/>
            <a:ext cx="11430000" cy="42018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7AB4E0-EFF2-DB3B-9FCB-0A41EAACF684}"/>
              </a:ext>
            </a:extLst>
          </p:cNvPr>
          <p:cNvSpPr txBox="1"/>
          <p:nvPr/>
        </p:nvSpPr>
        <p:spPr>
          <a:xfrm>
            <a:off x="239256" y="5050971"/>
            <a:ext cx="11582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</a:t>
            </a:r>
            <a:r>
              <a:rPr lang="en-GB" dirty="0" err="1"/>
              <a:t>olicy</a:t>
            </a:r>
            <a:r>
              <a:rPr lang="en-GB" dirty="0"/>
              <a:t> derived from historical discount-margin relationship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Ensures quick decisions for low-risk (green) while controlling high impact 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Introduces accountability and simplifies decision-making for sales associates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Thresholds to be validated during pilot and refined post-rollout</a:t>
            </a:r>
          </a:p>
        </p:txBody>
      </p:sp>
    </p:spTree>
    <p:extLst>
      <p:ext uri="{BB962C8B-B14F-4D97-AF65-F5344CB8AC3E}">
        <p14:creationId xmlns:p14="http://schemas.microsoft.com/office/powerpoint/2010/main" val="1115110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CE9D0-2E30-EA67-1131-BDA352FB3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6695C-1DA5-E321-2DC2-6A7736B9C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Rockwell" panose="02060603020205020403" pitchFamily="18" charset="0"/>
              </a:rPr>
              <a:t>Seasonality of Sales: Align discounting with seasonal sales</a:t>
            </a:r>
            <a:endParaRPr lang="en-IN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8D4CBB7-0931-B341-6488-1EB53B5E4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61670"/>
            <a:ext cx="6226630" cy="2582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8DEADE-A3F0-6844-2F46-4038E8D9629F}"/>
              </a:ext>
            </a:extLst>
          </p:cNvPr>
          <p:cNvSpPr txBox="1"/>
          <p:nvPr/>
        </p:nvSpPr>
        <p:spPr>
          <a:xfrm>
            <a:off x="6868886" y="1306286"/>
            <a:ext cx="4691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shows seasonal peaks (May Month) independent of specific years, i.e., overall pattern of which months perform better across 2013–2016.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45D4C80-3204-B39F-3815-537361BA1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571" y="3543979"/>
            <a:ext cx="6128659" cy="3096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1E327C-6EC8-C3FD-36B2-0F69D0C3B73E}"/>
              </a:ext>
            </a:extLst>
          </p:cNvPr>
          <p:cNvSpPr txBox="1"/>
          <p:nvPr/>
        </p:nvSpPr>
        <p:spPr>
          <a:xfrm>
            <a:off x="6868885" y="3580483"/>
            <a:ext cx="46917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2014 was the year where the gross margin % increased every year.</a:t>
            </a:r>
          </a:p>
          <a:p>
            <a:r>
              <a:rPr lang="en-GB" dirty="0"/>
              <a:t>However, in recent years we have seen uneven performance of gross margin % in different quarters</a:t>
            </a:r>
          </a:p>
          <a:p>
            <a:endParaRPr lang="en-GB" dirty="0"/>
          </a:p>
          <a:p>
            <a:r>
              <a:rPr lang="en-GB" dirty="0"/>
              <a:t>Quarterly trends identify best windows for promotions</a:t>
            </a:r>
          </a:p>
          <a:p>
            <a:endParaRPr lang="en-GB" dirty="0"/>
          </a:p>
          <a:p>
            <a:r>
              <a:rPr lang="en-GB" b="1" dirty="0"/>
              <a:t>Actionable Next Step: Align discounting with seasonal peaks</a:t>
            </a:r>
          </a:p>
        </p:txBody>
      </p:sp>
    </p:spTree>
    <p:extLst>
      <p:ext uri="{BB962C8B-B14F-4D97-AF65-F5344CB8AC3E}">
        <p14:creationId xmlns:p14="http://schemas.microsoft.com/office/powerpoint/2010/main" val="2571636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CFCD1-4764-B63C-3359-C1E40DAB8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E33453-0230-E52F-EB1D-DD27E4A83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Rockwell" panose="02060603020205020403" pitchFamily="18" charset="0"/>
              </a:rPr>
              <a:t>What-If Margin Calculator &amp; Quick Rules</a:t>
            </a:r>
            <a:endParaRPr lang="en-IN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55D513-F267-445E-CEFB-686CEAF2F2BE}"/>
              </a:ext>
            </a:extLst>
          </p:cNvPr>
          <p:cNvSpPr txBox="1"/>
          <p:nvPr/>
        </p:nvSpPr>
        <p:spPr>
          <a:xfrm>
            <a:off x="97512" y="942984"/>
            <a:ext cx="76281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Rationale:</a:t>
            </a:r>
          </a:p>
          <a:p>
            <a:r>
              <a:rPr lang="en-GB" dirty="0"/>
              <a:t>1. Simple UI tool: input discount % → shows net margin impact</a:t>
            </a:r>
          </a:p>
          <a:p>
            <a:r>
              <a:rPr lang="en-GB" dirty="0"/>
              <a:t>2. Integrates into CRM; routes approvals automatically</a:t>
            </a:r>
          </a:p>
          <a:p>
            <a:r>
              <a:rPr lang="en-GB" dirty="0"/>
              <a:t>3. Behavioural nudge for smarter pricing decisions</a:t>
            </a:r>
          </a:p>
          <a:p>
            <a:endParaRPr lang="en-GB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DC455F-AC1F-F6DE-3D03-4FBF754C1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9394"/>
            <a:ext cx="12192000" cy="477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595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944E6-C48A-12F3-3EE5-2B600C39F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5648CC-F94B-8779-3C64-17CBC2DFF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Rockwell" panose="02060603020205020403" pitchFamily="18" charset="0"/>
              </a:rPr>
              <a:t>What-If Margin Calculator &amp; Quick Rules</a:t>
            </a:r>
            <a:endParaRPr lang="en-IN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3315EE-5735-231E-D912-35241F33428C}"/>
              </a:ext>
            </a:extLst>
          </p:cNvPr>
          <p:cNvSpPr txBox="1"/>
          <p:nvPr/>
        </p:nvSpPr>
        <p:spPr>
          <a:xfrm>
            <a:off x="97512" y="942984"/>
            <a:ext cx="76281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Rationale:</a:t>
            </a:r>
          </a:p>
          <a:p>
            <a:r>
              <a:rPr lang="en-GB" dirty="0"/>
              <a:t>1. Simple UI tool: input discount % → shows net margin impact</a:t>
            </a:r>
          </a:p>
          <a:p>
            <a:r>
              <a:rPr lang="en-GB" dirty="0"/>
              <a:t>2. Integrates into CRM; routes approvals automatically</a:t>
            </a:r>
          </a:p>
          <a:p>
            <a:r>
              <a:rPr lang="en-GB" dirty="0"/>
              <a:t>3. Behavioural nudge for smarter pricing decisions</a:t>
            </a:r>
          </a:p>
          <a:p>
            <a:endParaRPr lang="en-GB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8473CF-7F24-60B1-686C-0922465DE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0312"/>
            <a:ext cx="12192000" cy="26914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84499B-2C2F-B532-BCC2-F50843899C38}"/>
              </a:ext>
            </a:extLst>
          </p:cNvPr>
          <p:cNvSpPr txBox="1"/>
          <p:nvPr/>
        </p:nvSpPr>
        <p:spPr>
          <a:xfrm>
            <a:off x="97511" y="5242476"/>
            <a:ext cx="76281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Link to the tool:</a:t>
            </a:r>
          </a:p>
          <a:p>
            <a:r>
              <a:rPr lang="en-GB" dirty="0">
                <a:hlinkClick r:id="rId3"/>
              </a:rPr>
              <a:t>AA </a:t>
            </a:r>
            <a:r>
              <a:rPr lang="en-GB" dirty="0" err="1">
                <a:hlinkClick r:id="rId3"/>
              </a:rPr>
              <a:t>Autoparts</a:t>
            </a:r>
            <a:r>
              <a:rPr lang="en-GB" dirty="0">
                <a:hlinkClick r:id="rId3"/>
              </a:rPr>
              <a:t> - What-If Margin Calculator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586814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AA716-E2F4-88B7-1429-A42811438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8736A3-931C-8C2C-6E63-6072CD9BB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Rockwell" panose="02060603020205020403" pitchFamily="18" charset="0"/>
              </a:rPr>
              <a:t>Assumptions</a:t>
            </a:r>
            <a:endParaRPr lang="en-IN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EEAA3E-10A3-F7F7-8F5F-AA4D5478DD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03076"/>
              </p:ext>
            </p:extLst>
          </p:nvPr>
        </p:nvGraphicFramePr>
        <p:xfrm>
          <a:off x="421979" y="1413243"/>
          <a:ext cx="11348041" cy="4346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235">
                  <a:extLst>
                    <a:ext uri="{9D8B030D-6E8A-4147-A177-3AD203B41FA5}">
                      <a16:colId xmlns:a16="http://schemas.microsoft.com/office/drawing/2014/main" val="3271557534"/>
                    </a:ext>
                  </a:extLst>
                </a:gridCol>
                <a:gridCol w="8303806">
                  <a:extLst>
                    <a:ext uri="{9D8B030D-6E8A-4147-A177-3AD203B41FA5}">
                      <a16:colId xmlns:a16="http://schemas.microsoft.com/office/drawing/2014/main" val="284669737"/>
                    </a:ext>
                  </a:extLst>
                </a:gridCol>
              </a:tblGrid>
              <a:tr h="906957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Data &amp; timeframe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Missing entries in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Customer_LSTYR_Sales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treated as 0 and it is assumed that they are new customers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Customer and salesperson mappings assumed correct post-cleaning</a:t>
                      </a:r>
                      <a:endParaRPr lang="en-IN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696265"/>
                  </a:ext>
                </a:extLst>
              </a:tr>
              <a:tr h="1012509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Revenue &amp; Margin Calculations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Gross Margin assumed consistent with company’s cost structure (no dynamic cost fluctuations modeled)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Discounts are treated as absolute % off list price, applied uniformly across SKUs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853513"/>
                  </a:ext>
                </a:extLst>
              </a:tr>
              <a:tr h="1126435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Analytical Approach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Seasonality insights drawn from aggregated monthly and quarterly revenue trends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Forecasting models assume no major external shocks (e.g. policy, competitor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moves,GDP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564737"/>
                  </a:ext>
                </a:extLst>
              </a:tr>
              <a:tr h="1012509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Business &amp;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Behavioural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 Assumptions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Sales associate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behaviour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and customer response remain consistent with historical data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Implementation of new discount rules expected to have minimal initial resistance post-training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Safe discount zones derived for pilot purposes – thresholds to be validated and fine-tuned during rollout.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8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328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C1F17-A61A-789B-896B-64B360FC7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10DB20-A1E6-4A7A-A1B6-0DA52B967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Rockwell" panose="02060603020205020403" pitchFamily="18" charset="0"/>
              </a:rPr>
              <a:t>Actionable Recommendations</a:t>
            </a:r>
            <a:endParaRPr lang="en-IN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1975BD-9BE1-6DEF-7F35-DDDDF332C021}"/>
              </a:ext>
            </a:extLst>
          </p:cNvPr>
          <p:cNvSpPr txBox="1"/>
          <p:nvPr/>
        </p:nvSpPr>
        <p:spPr>
          <a:xfrm>
            <a:off x="97512" y="942984"/>
            <a:ext cx="1195297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1. Discount Guidelines:</a:t>
            </a:r>
          </a:p>
          <a:p>
            <a:r>
              <a:rPr lang="en-GB" b="1" dirty="0"/>
              <a:t>	</a:t>
            </a:r>
            <a:r>
              <a:rPr lang="en-GB" dirty="0"/>
              <a:t>- Green Zone (0-10%) : Healthy margins, standard approval</a:t>
            </a:r>
            <a:endParaRPr lang="en-GB" b="1" dirty="0"/>
          </a:p>
          <a:p>
            <a:r>
              <a:rPr lang="en-GB" b="1" dirty="0"/>
              <a:t>	</a:t>
            </a:r>
            <a:r>
              <a:rPr lang="en-GB" dirty="0"/>
              <a:t>- Amber Zone (10-15%) : Requires supervisor approval</a:t>
            </a:r>
          </a:p>
          <a:p>
            <a:r>
              <a:rPr lang="en-GB" dirty="0"/>
              <a:t>	- Red Zone (&gt;15%): Senior Management approval only</a:t>
            </a:r>
          </a:p>
          <a:p>
            <a:endParaRPr lang="en-GB" b="1" dirty="0"/>
          </a:p>
          <a:p>
            <a:r>
              <a:rPr lang="en-GB" b="1" dirty="0"/>
              <a:t>2. Customer Specific Strategies</a:t>
            </a:r>
          </a:p>
          <a:p>
            <a:r>
              <a:rPr lang="en-GB" dirty="0"/>
              <a:t>	- Large Customers: More flexibility, volume justifies lower margins</a:t>
            </a:r>
          </a:p>
          <a:p>
            <a:r>
              <a:rPr lang="en-GB" dirty="0"/>
              <a:t>	- Medium Customers: Standard guidelines with growth potential assessment</a:t>
            </a:r>
          </a:p>
          <a:p>
            <a:r>
              <a:rPr lang="en-GB" dirty="0"/>
              <a:t>	- Small Customers: Minimize discounts as it leads to margin leakage</a:t>
            </a:r>
          </a:p>
          <a:p>
            <a:endParaRPr lang="en-GB" b="1" dirty="0"/>
          </a:p>
          <a:p>
            <a:r>
              <a:rPr lang="en-GB" b="1" dirty="0"/>
              <a:t>3. Sales Team Analysis:</a:t>
            </a:r>
          </a:p>
          <a:p>
            <a:r>
              <a:rPr lang="en-GB" dirty="0"/>
              <a:t>	- Link compensation to profit margins, not just revenue</a:t>
            </a:r>
          </a:p>
          <a:p>
            <a:r>
              <a:rPr lang="en-GB" dirty="0"/>
              <a:t>	- Recognize salesman who maintain margins while growing volume</a:t>
            </a:r>
          </a:p>
          <a:p>
            <a:r>
              <a:rPr lang="en-GB" dirty="0"/>
              <a:t>	- Provide real-time feedback on pricing decisions</a:t>
            </a:r>
          </a:p>
          <a:p>
            <a:endParaRPr lang="en-GB" dirty="0"/>
          </a:p>
          <a:p>
            <a:r>
              <a:rPr lang="en-GB" b="1" dirty="0"/>
              <a:t>4. Behavioural change of Sales professionals to use What-If tool before discounting</a:t>
            </a:r>
          </a:p>
          <a:p>
            <a:endParaRPr lang="en-GB" dirty="0"/>
          </a:p>
          <a:p>
            <a:r>
              <a:rPr lang="en-GB" b="1" dirty="0"/>
              <a:t>5. Monitoring &amp; Control:</a:t>
            </a:r>
          </a:p>
          <a:p>
            <a:r>
              <a:rPr lang="en-GB" dirty="0"/>
              <a:t>	- Monthly reviews of salesman performance</a:t>
            </a:r>
          </a:p>
          <a:p>
            <a:r>
              <a:rPr lang="en-GB" dirty="0"/>
              <a:t>	- Quarterly strategy refinement based on data</a:t>
            </a:r>
          </a:p>
        </p:txBody>
      </p:sp>
    </p:spTree>
    <p:extLst>
      <p:ext uri="{BB962C8B-B14F-4D97-AF65-F5344CB8AC3E}">
        <p14:creationId xmlns:p14="http://schemas.microsoft.com/office/powerpoint/2010/main" val="2947331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7583D-AF61-984F-3194-17B83D21D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2A7593-3DB3-C13B-0CF3-0FCBF2455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Rockwell" panose="02060603020205020403" pitchFamily="18" charset="0"/>
              </a:rPr>
              <a:t>Next steps to make the Solution scalable &amp; refined</a:t>
            </a:r>
            <a:endParaRPr lang="en-IN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E49535-4FB2-A344-5273-B2ED6B70EBA5}"/>
              </a:ext>
            </a:extLst>
          </p:cNvPr>
          <p:cNvSpPr txBox="1"/>
          <p:nvPr/>
        </p:nvSpPr>
        <p:spPr>
          <a:xfrm>
            <a:off x="97512" y="942984"/>
            <a:ext cx="1195297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1. Discounts given by salespersons are reflective of:</a:t>
            </a:r>
          </a:p>
          <a:p>
            <a:r>
              <a:rPr lang="en-GB" b="1" dirty="0"/>
              <a:t>	</a:t>
            </a:r>
            <a:r>
              <a:rPr lang="en-GB" dirty="0"/>
              <a:t>- Competitors presence in the market to make the client’s product competitive</a:t>
            </a:r>
            <a:endParaRPr lang="en-GB" b="1" dirty="0"/>
          </a:p>
          <a:p>
            <a:r>
              <a:rPr lang="en-GB" b="1" dirty="0"/>
              <a:t>	</a:t>
            </a:r>
            <a:r>
              <a:rPr lang="en-GB" dirty="0"/>
              <a:t>- To meet their personal sales targets which can be sometimes too much to achieve esp. in the current times of 	inflation and falling personal income</a:t>
            </a:r>
          </a:p>
          <a:p>
            <a:endParaRPr lang="en-GB" b="1" dirty="0"/>
          </a:p>
          <a:p>
            <a:r>
              <a:rPr lang="en-GB" b="1" dirty="0"/>
              <a:t>2. Extra Data needed:</a:t>
            </a:r>
          </a:p>
          <a:p>
            <a:r>
              <a:rPr lang="en-GB" dirty="0"/>
              <a:t>	- Third Party Retail Audit Data (Nielsen / </a:t>
            </a:r>
            <a:r>
              <a:rPr lang="en-GB" dirty="0" err="1"/>
              <a:t>Canadean</a:t>
            </a:r>
            <a:r>
              <a:rPr lang="en-GB" dirty="0"/>
              <a:t> / Euromonitor)</a:t>
            </a:r>
          </a:p>
          <a:p>
            <a:r>
              <a:rPr lang="en-GB" dirty="0"/>
              <a:t>	</a:t>
            </a:r>
            <a:endParaRPr lang="en-GB" b="1" dirty="0"/>
          </a:p>
          <a:p>
            <a:r>
              <a:rPr lang="en-GB" b="1" dirty="0"/>
              <a:t>3. Elasticity Modelling:</a:t>
            </a:r>
          </a:p>
          <a:p>
            <a:r>
              <a:rPr lang="en-GB" b="1" dirty="0"/>
              <a:t>	</a:t>
            </a:r>
            <a:r>
              <a:rPr lang="en-GB" dirty="0"/>
              <a:t>- to understand the price sensitivity of the product and how change in prices impact the volume sales</a:t>
            </a:r>
            <a:endParaRPr lang="en-GB" b="1" dirty="0"/>
          </a:p>
          <a:p>
            <a:r>
              <a:rPr lang="en-GB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285169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8937</TotalTime>
  <Words>1270</Words>
  <Application>Microsoft Office PowerPoint</Application>
  <PresentationFormat>Widescreen</PresentationFormat>
  <Paragraphs>198</Paragraphs>
  <Slides>16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Aptos Narrow</vt:lpstr>
      <vt:lpstr>Arial</vt:lpstr>
      <vt:lpstr>Arial Nova</vt:lpstr>
      <vt:lpstr>Calibri</vt:lpstr>
      <vt:lpstr>Rockwell</vt:lpstr>
      <vt:lpstr>Tahoma</vt:lpstr>
      <vt:lpstr>Office Theme</vt:lpstr>
      <vt:lpstr>AA Smart Discounting Strategy for Clutches sales in USA market</vt:lpstr>
      <vt:lpstr>PowerPoint Presentation</vt:lpstr>
      <vt:lpstr>Project Plan</vt:lpstr>
      <vt:lpstr>Data Profiling: Issues due to Missing Values</vt:lpstr>
      <vt:lpstr>Current discounting strategy: Higher discounts directly erode gross margins- Clear need for guardrails</vt:lpstr>
      <vt:lpstr>Relationship between past Sales and Discount: Need to balance profitability &amp; customer acquisition</vt:lpstr>
      <vt:lpstr>Average Gross Margin % by Price Cluster &amp; Regions</vt:lpstr>
      <vt:lpstr>Customer Segmentation Analysis</vt:lpstr>
      <vt:lpstr>Proposed Solution: Safe Discount Margin Identification</vt:lpstr>
      <vt:lpstr>Proposed Solution: Safe Discount Margin Identification</vt:lpstr>
      <vt:lpstr>Seasonality of Sales: Align discounting with seasonal sales</vt:lpstr>
      <vt:lpstr>What-If Margin Calculator &amp; Quick Rules</vt:lpstr>
      <vt:lpstr>What-If Margin Calculator &amp; Quick Rules</vt:lpstr>
      <vt:lpstr>Assumptions</vt:lpstr>
      <vt:lpstr>Actionable Recommendations</vt:lpstr>
      <vt:lpstr>Next steps to make the Solution scalable &amp; refined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Paliwal</dc:creator>
  <cp:lastModifiedBy>Om Kumar</cp:lastModifiedBy>
  <cp:revision>129</cp:revision>
  <dcterms:created xsi:type="dcterms:W3CDTF">2025-07-03T10:46:01Z</dcterms:created>
  <dcterms:modified xsi:type="dcterms:W3CDTF">2025-11-08T21:14:00Z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290a146-4611-47e0-9673-437d6fdc934a_Enabled">
    <vt:lpwstr>true</vt:lpwstr>
  </property>
  <property fmtid="{D5CDD505-2E9C-101B-9397-08002B2CF9AE}" pid="3" name="MSIP_Label_3290a146-4611-47e0-9673-437d6fdc934a_SetDate">
    <vt:lpwstr>2025-11-08T17:58:18Z</vt:lpwstr>
  </property>
  <property fmtid="{D5CDD505-2E9C-101B-9397-08002B2CF9AE}" pid="4" name="MSIP_Label_3290a146-4611-47e0-9673-437d6fdc934a_Method">
    <vt:lpwstr>Privileged</vt:lpwstr>
  </property>
  <property fmtid="{D5CDD505-2E9C-101B-9397-08002B2CF9AE}" pid="5" name="MSIP_Label_3290a146-4611-47e0-9673-437d6fdc934a_Name">
    <vt:lpwstr>Confidential - Internal</vt:lpwstr>
  </property>
  <property fmtid="{D5CDD505-2E9C-101B-9397-08002B2CF9AE}" pid="6" name="MSIP_Label_3290a146-4611-47e0-9673-437d6fdc934a_SiteId">
    <vt:lpwstr>dad95bbc-891b-4859-b651-4f850f8e479f</vt:lpwstr>
  </property>
  <property fmtid="{D5CDD505-2E9C-101B-9397-08002B2CF9AE}" pid="7" name="MSIP_Label_3290a146-4611-47e0-9673-437d6fdc934a_ActionId">
    <vt:lpwstr>18aa42ba-17cd-4398-a5d0-3cc36c8ff1a9</vt:lpwstr>
  </property>
  <property fmtid="{D5CDD505-2E9C-101B-9397-08002B2CF9AE}" pid="8" name="MSIP_Label_3290a146-4611-47e0-9673-437d6fdc934a_ContentBits">
    <vt:lpwstr>1</vt:lpwstr>
  </property>
  <property fmtid="{D5CDD505-2E9C-101B-9397-08002B2CF9AE}" pid="9" name="MSIP_Label_3290a146-4611-47e0-9673-437d6fdc934a_Tag">
    <vt:lpwstr>10, 0, 1, 1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Confidential</vt:lpwstr>
  </property>
</Properties>
</file>